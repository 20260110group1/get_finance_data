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  <p:embeddedFont>
      <p:font typeface="Maven Pro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378C47-24B4-4D67-8D63-BC4CBEE59085}">
  <a:tblStyle styleId="{8C378C47-24B4-4D67-8D63-BC4CBEE5908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698688-155F-4A6C-93D4-EAA4DB8AB45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5.xml"/><Relationship Id="rId22" Type="http://schemas.openxmlformats.org/officeDocument/2006/relationships/font" Target="fonts/MavenPro-regular.fntdata"/><Relationship Id="rId10" Type="http://schemas.openxmlformats.org/officeDocument/2006/relationships/slide" Target="slides/slide4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MavenPr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Nuni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cbc.gov.tw/tw/lp-645-1.html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nstatdb.dgbas.gov.tw/dgbasAll/webMain.aspx?sys=100&amp;funid=dgmaine" TargetMode="External"/><Relationship Id="rId3" Type="http://schemas.openxmlformats.org/officeDocument/2006/relationships/hyperlink" Target="https://data.bls.gov/pdq/SurveyOutputServlet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b2a330411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b2a330411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瑗 專題概念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57b22e5f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b57b22e5f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chemeClr val="dk1"/>
                </a:solidFill>
              </a:rPr>
              <a:t>林宜蓁 應用與產出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b774a717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b774a717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92669ab2fb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92669ab2fb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b2a3304116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b2a3304116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思涵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中央銀行: </a:t>
            </a:r>
            <a:r>
              <a:rPr lang="zh-TW" u="sng">
                <a:solidFill>
                  <a:schemeClr val="hlink"/>
                </a:solidFill>
                <a:hlinkClick r:id="rId2"/>
              </a:rPr>
              <a:t>https://www.cbc.gov.tw/tw/lp-645-1.html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rgbClr val="FF0000"/>
                </a:solidFill>
              </a:rPr>
              <a:t>yahoo 股市: https://tw.finance.yahoo.com/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b2a3304116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b2a3304116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栢暐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我們會用Python 來爬資料來源，資料欄位有不符合預期我們會用Pyton 去清洗跟轉化資料，然後把資料放到關聯式資料庫。 搜尋資料的部分我們會把它做成Fast API 未來如果有系統要建立可以使用。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AIR Flow 會安排排程來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1.更新每天新進的股價資訊跟外匯資訊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2. 產出Hyper 檔案，讓Tableau讀取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3.會將寫好的程式排程執行，依照用戶的需求寄發通知信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4.會用Tableau 來產生各個股價的每日曲線圖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b2a3304116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b2a3304116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1.</a:t>
            </a:r>
            <a:r>
              <a:rPr lang="zh-TW"/>
              <a:t>栢暐、君瑗會負責Python ETL 的部分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2.宜臻 思涵會處理建立資料庫、匯入歷史資料及用Airflow產出Hyper檔案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3.君瑗 思涵會建立Fast API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4.AirFlow 更新每天股價及每天匯率資訊 通知信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5. 林宜蓁 林栢暐儀錶板的建立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b79105e355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b79105e355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b79105e355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b79105e355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(台灣)消費者物價統計資料庫 </a:t>
            </a:r>
            <a:r>
              <a:rPr lang="zh-TW" u="sng">
                <a:solidFill>
                  <a:schemeClr val="hlink"/>
                </a:solidFill>
                <a:hlinkClick r:id="rId2"/>
              </a:rPr>
              <a:t>https://nstatdb.dgbas.gov.tw/dgbasAll/webMain.aspx?sys=100&amp;funid=dgmaine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(美國)消費者物價</a:t>
            </a:r>
            <a:r>
              <a:rPr lang="zh-TW" u="sng">
                <a:solidFill>
                  <a:schemeClr val="hlink"/>
                </a:solidFill>
                <a:hlinkClick r:id="rId3"/>
              </a:rPr>
              <a:t>https://data.bls.gov/pdq/SurveyOutputServlet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baaa685ded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baaa685ded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727950" y="1044800"/>
            <a:ext cx="7688100" cy="166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600"/>
              <a:t>投資理財儀錶板</a:t>
            </a:r>
            <a:endParaRPr sz="460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727952" y="3558275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組員成員：林栢暐  林宜臻  張君瑗  陳思涵  </a:t>
            </a:r>
            <a:endParaRPr b="1"/>
          </a:p>
        </p:txBody>
      </p:sp>
      <p:sp>
        <p:nvSpPr>
          <p:cNvPr id="279" name="Google Shape;279;p13"/>
          <p:cNvSpPr txBox="1"/>
          <p:nvPr>
            <p:ph idx="1" type="subTitle"/>
          </p:nvPr>
        </p:nvSpPr>
        <p:spPr>
          <a:xfrm>
            <a:off x="727952" y="414325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/>
              <a:t>指導老師</a:t>
            </a:r>
            <a:r>
              <a:rPr b="1" lang="zh-TW"/>
              <a:t>:</a:t>
            </a:r>
            <a:r>
              <a:rPr b="1" lang="zh-TW"/>
              <a:t>：---</a:t>
            </a:r>
            <a:endParaRPr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40875" y="722225"/>
            <a:ext cx="7030500" cy="8481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500"/>
              <a:t>專題概念</a:t>
            </a:r>
            <a:endParaRPr sz="3500"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630475" y="1866975"/>
            <a:ext cx="8061600" cy="29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16">
                <a:solidFill>
                  <a:schemeClr val="accent1"/>
                </a:solidFill>
              </a:rPr>
              <a:t>           </a:t>
            </a:r>
            <a:r>
              <a:rPr lang="zh-TW" sz="1816" u="sng">
                <a:solidFill>
                  <a:schemeClr val="accent1"/>
                </a:solidFill>
              </a:rPr>
              <a:t>致力於</a:t>
            </a:r>
            <a:r>
              <a:rPr lang="zh-TW" sz="1816" u="sng">
                <a:solidFill>
                  <a:schemeClr val="accent1"/>
                </a:solidFill>
              </a:rPr>
              <a:t>金融商品與匯率變動之影響分析</a:t>
            </a:r>
            <a:endParaRPr sz="1816" u="sng">
              <a:solidFill>
                <a:schemeClr val="accent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16"/>
          </a:p>
          <a:p>
            <a:pPr indent="-337579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16"/>
              <a:buChar char="●"/>
            </a:pPr>
            <a:r>
              <a:rPr b="1" lang="zh-TW" sz="2116"/>
              <a:t>研究標的</a:t>
            </a:r>
            <a:r>
              <a:rPr lang="zh-TW" sz="1716"/>
              <a:t>：</a:t>
            </a:r>
            <a:r>
              <a:rPr lang="zh-TW" sz="1616"/>
              <a:t>台股(台灣前50) 、 美股(S&amp;P 500) ＆ 台美匯率趨勢</a:t>
            </a:r>
            <a:endParaRPr sz="1616"/>
          </a:p>
          <a:p>
            <a:pPr indent="-33757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16"/>
              <a:buChar char="●"/>
            </a:pPr>
            <a:r>
              <a:rPr b="1" lang="zh-TW" sz="2116"/>
              <a:t>目標使用族群</a:t>
            </a:r>
            <a:r>
              <a:rPr lang="zh-TW" sz="1716"/>
              <a:t>：</a:t>
            </a:r>
            <a:r>
              <a:rPr lang="zh-TW" sz="1616"/>
              <a:t>時間有限或研究興趣不高想快速掌握市場狀況的人</a:t>
            </a:r>
            <a:endParaRPr sz="1616"/>
          </a:p>
          <a:p>
            <a:pPr indent="-32487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16"/>
              <a:buChar char="●"/>
            </a:pPr>
            <a:r>
              <a:rPr b="1" lang="zh-TW" sz="2116"/>
              <a:t>核心問題與需求</a:t>
            </a:r>
            <a:r>
              <a:rPr lang="zh-TW" sz="1516"/>
              <a:t>：</a:t>
            </a:r>
            <a:r>
              <a:rPr lang="zh-TW" sz="1616"/>
              <a:t>市場資訊複雜且量龐大，難以快速掌握特定期間的市場趨勢</a:t>
            </a:r>
            <a:endParaRPr sz="1616"/>
          </a:p>
          <a:p>
            <a:pPr indent="-324879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16"/>
              <a:buChar char="●"/>
            </a:pPr>
            <a:r>
              <a:rPr b="1" lang="zh-TW" sz="2116"/>
              <a:t>解決方案</a:t>
            </a:r>
            <a:r>
              <a:rPr lang="zh-TW" sz="1516"/>
              <a:t>：</a:t>
            </a:r>
            <a:r>
              <a:rPr lang="zh-TW" sz="1624"/>
              <a:t>提供投資理財儀表板、貼心匯率高低點提示與該區間之重點整理</a:t>
            </a:r>
            <a:endParaRPr sz="1624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500"/>
              <a:t> 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697475"/>
            <a:ext cx="7030500" cy="8109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500">
                <a:solidFill>
                  <a:schemeClr val="lt1"/>
                </a:solidFill>
              </a:rPr>
              <a:t>應用與產出</a:t>
            </a:r>
            <a:endParaRPr sz="3500">
              <a:solidFill>
                <a:schemeClr val="lt1"/>
              </a:solidFill>
            </a:endParaRPr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704775" y="1915875"/>
            <a:ext cx="8098500" cy="28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56629" lvl="0" marL="457200" rtl="0" algn="l">
              <a:spcBef>
                <a:spcPts val="0"/>
              </a:spcBef>
              <a:spcAft>
                <a:spcPts val="0"/>
              </a:spcAft>
              <a:buSzPts val="2016"/>
              <a:buChar char="●"/>
            </a:pPr>
            <a:r>
              <a:rPr b="1" lang="zh-TW" sz="2016"/>
              <a:t>股價、外匯能依照使用者設定的相對高/低點獲得較即時的通知</a:t>
            </a:r>
            <a:endParaRPr b="1" sz="2016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16"/>
          </a:p>
          <a:p>
            <a:pPr indent="-356629" lvl="0" marL="457200" rtl="0" algn="l">
              <a:spcBef>
                <a:spcPts val="1200"/>
              </a:spcBef>
              <a:spcAft>
                <a:spcPts val="0"/>
              </a:spcAft>
              <a:buSzPts val="2016"/>
              <a:buChar char="●"/>
            </a:pPr>
            <a:r>
              <a:rPr b="1" lang="zh-TW" sz="2016"/>
              <a:t>走勢圖與價位區間視覺化</a:t>
            </a:r>
            <a:endParaRPr b="1" sz="2016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16"/>
          </a:p>
          <a:p>
            <a:pPr indent="-356629" lvl="0" marL="457200" rtl="0" algn="l">
              <a:spcBef>
                <a:spcPts val="1200"/>
              </a:spcBef>
              <a:spcAft>
                <a:spcPts val="0"/>
              </a:spcAft>
              <a:buSzPts val="2016"/>
              <a:buChar char="●"/>
            </a:pPr>
            <a:r>
              <a:rPr b="1" lang="zh-TW" sz="2016"/>
              <a:t>台幣與美元之間的即時切換，以及匯率對實際獲利造成的影響。</a:t>
            </a:r>
            <a:endParaRPr b="1" sz="2016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259325" y="676675"/>
            <a:ext cx="7024800" cy="5352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zh-TW" sz="2620"/>
              <a:t>走勢圖與通知</a:t>
            </a:r>
            <a:endParaRPr sz="2620"/>
          </a:p>
        </p:txBody>
      </p:sp>
      <p:pic>
        <p:nvPicPr>
          <p:cNvPr id="297" name="Google Shape;2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150" y="1397150"/>
            <a:ext cx="4997799" cy="3587675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algn="bl" dir="5580000" dist="19050">
              <a:srgbClr val="000000">
                <a:alpha val="50000"/>
              </a:srgbClr>
            </a:outerShdw>
          </a:effectLst>
        </p:spPr>
      </p:pic>
      <p:pic>
        <p:nvPicPr>
          <p:cNvPr id="298" name="Google Shape;298;p16"/>
          <p:cNvPicPr preferRelativeResize="0"/>
          <p:nvPr/>
        </p:nvPicPr>
        <p:blipFill rotWithShape="1">
          <a:blip r:embed="rId4">
            <a:alphaModFix/>
          </a:blip>
          <a:srcRect b="19365" l="50579" r="5365" t="13439"/>
          <a:stretch/>
        </p:blipFill>
        <p:spPr>
          <a:xfrm rot="866807">
            <a:off x="7252549" y="2831229"/>
            <a:ext cx="1395052" cy="19096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79675" y="1397150"/>
            <a:ext cx="1475675" cy="14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1291450" y="660400"/>
            <a:ext cx="7301700" cy="8604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lt1"/>
                </a:solidFill>
              </a:rPr>
              <a:t>台幣/美元即時切換、匯率對實際獲利的影響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05" name="Google Shape;305;p17"/>
          <p:cNvSpPr txBox="1"/>
          <p:nvPr>
            <p:ph idx="1" type="body"/>
          </p:nvPr>
        </p:nvSpPr>
        <p:spPr>
          <a:xfrm>
            <a:off x="821050" y="3658325"/>
            <a:ext cx="6634500" cy="86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zh-TW" sz="1900">
                <a:solidFill>
                  <a:schemeClr val="accent1"/>
                </a:solidFill>
              </a:rPr>
              <a:t>→</a:t>
            </a:r>
            <a:r>
              <a:rPr b="1" lang="zh-TW" sz="1900">
                <a:solidFill>
                  <a:schemeClr val="accent1"/>
                </a:solidFill>
              </a:rPr>
              <a:t>股價上漲，但美元大幅貶值侵蝕報酬，實際績效為-3.75%</a:t>
            </a:r>
            <a:endParaRPr b="1" sz="1900">
              <a:solidFill>
                <a:schemeClr val="accent1"/>
              </a:solidFill>
            </a:endParaRPr>
          </a:p>
        </p:txBody>
      </p:sp>
      <p:graphicFrame>
        <p:nvGraphicFramePr>
          <p:cNvPr id="306" name="Google Shape;306;p17"/>
          <p:cNvGraphicFramePr/>
          <p:nvPr/>
        </p:nvGraphicFramePr>
        <p:xfrm>
          <a:off x="821050" y="20661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{8C378C47-24B4-4D67-8D63-BC4CBEE59085}</a:tableStyleId>
              </a:tblPr>
              <a:tblGrid>
                <a:gridCol w="2060075"/>
                <a:gridCol w="1699650"/>
                <a:gridCol w="1746975"/>
              </a:tblGrid>
              <a:tr h="37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highlight>
                            <a:schemeClr val="lt1"/>
                          </a:highlight>
                        </a:rPr>
                        <a:t>投資時</a:t>
                      </a:r>
                      <a:endParaRPr b="1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highlight>
                            <a:schemeClr val="lt1"/>
                          </a:highlight>
                        </a:rPr>
                        <a:t>現在</a:t>
                      </a:r>
                      <a:endParaRPr b="1"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highlight>
                            <a:schemeClr val="lt1"/>
                          </a:highlight>
                        </a:rPr>
                        <a:t>股價（美元）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highlight>
                            <a:schemeClr val="lt1"/>
                          </a:highlight>
                        </a:rPr>
                        <a:t>100 USD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highlight>
                            <a:schemeClr val="lt1"/>
                          </a:highlight>
                        </a:rPr>
                        <a:t>110 USD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highlight>
                            <a:schemeClr val="lt1"/>
                          </a:highlight>
                        </a:rPr>
                        <a:t>USD/TWD 匯率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highlight>
                            <a:schemeClr val="lt1"/>
                          </a:highlight>
                        </a:rPr>
                        <a:t>32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highlight>
                            <a:schemeClr val="lt1"/>
                          </a:highlight>
                        </a:rPr>
                        <a:t>28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highlight>
                            <a:schemeClr val="lt1"/>
                          </a:highlight>
                        </a:rPr>
                        <a:t>股價 (台幣)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highlight>
                            <a:schemeClr val="lt1"/>
                          </a:highlight>
                        </a:rPr>
                        <a:t>3,200 TWD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highlight>
                            <a:schemeClr val="lt1"/>
                          </a:highlight>
                        </a:rPr>
                        <a:t>3,080 TWD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07" name="Google Shape;3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60125" y="2571749"/>
            <a:ext cx="2683875" cy="71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8"/>
          <p:cNvSpPr txBox="1"/>
          <p:nvPr>
            <p:ph type="title"/>
          </p:nvPr>
        </p:nvSpPr>
        <p:spPr>
          <a:xfrm>
            <a:off x="1291425" y="635675"/>
            <a:ext cx="7030500" cy="872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500"/>
              <a:t>資料來源</a:t>
            </a:r>
            <a:endParaRPr sz="3500"/>
          </a:p>
        </p:txBody>
      </p:sp>
      <p:pic>
        <p:nvPicPr>
          <p:cNvPr id="313" name="Google Shape;3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22500" y="1948775"/>
            <a:ext cx="2124075" cy="5334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14" name="Google Shape;314;p18"/>
          <p:cNvGraphicFramePr/>
          <p:nvPr/>
        </p:nvGraphicFramePr>
        <p:xfrm>
          <a:off x="515490" y="18242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{70698688-155F-4A6C-93D4-EAA4DB8AB456}</a:tableStyleId>
              </a:tblPr>
              <a:tblGrid>
                <a:gridCol w="1187500"/>
                <a:gridCol w="3551075"/>
                <a:gridCol w="3551075"/>
              </a:tblGrid>
              <a:tr h="69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資料來源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7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爬取方式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python requests bs4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python requests bs4 / yfinance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12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取得資料</a:t>
                      </a:r>
                      <a:endParaRPr/>
                    </a:p>
                  </a:txBody>
                  <a:tcPr marT="91425" marB="91425" marR="91425" marL="91425" anchor="ctr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外匯資料：</a:t>
                      </a:r>
                      <a:endParaRPr b="1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zh-TW"/>
                        <a:t>幣別代碼(方便查詢特定貨幣)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zh-TW"/>
                        <a:t>幣別中文名稱(增加資料可讀性)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zh-TW"/>
                        <a:t>本行買入/賣出(現鈔/即期)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zh-TW"/>
                        <a:t>匯率日期(年/月/日)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zh-TW"/>
                        <a:t>資料寫入時間(紀錄爬蟲執行時間)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台股、美股(</a:t>
                      </a:r>
                      <a:r>
                        <a:rPr b="1" lang="zh-TW"/>
                        <a:t>全部或S&amp;P 500)：</a:t>
                      </a:r>
                      <a:endParaRPr b="1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股票基本資料表、每日行情表</a:t>
                      </a:r>
                      <a:endParaRPr b="1"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zh-TW"/>
                        <a:t>股票代碼(台股、美股)、股票中文/英文名稱、計價幣別(TWD/USD)、所屬產業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zh-TW"/>
                        <a:t>交易日期、開盤價、最高價、最低價、收盤價、還原收盤價、成交量</a:t>
                      </a:r>
                      <a:endParaRPr/>
                    </a:p>
                    <a:p>
                      <a:pPr indent="-3175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Char char="●"/>
                      </a:pPr>
                      <a:r>
                        <a:rPr lang="zh-TW"/>
                        <a:t>資料寫入時間(UTC時間)</a:t>
                      </a:r>
                      <a:endParaRPr/>
                    </a:p>
                  </a:txBody>
                  <a:tcPr marT="91425" marB="91425" marR="91425" marL="91425">
                    <a:lnL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15" name="Google Shape;3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0450" y="1947875"/>
            <a:ext cx="2850522" cy="5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9"/>
          <p:cNvSpPr txBox="1"/>
          <p:nvPr>
            <p:ph type="title"/>
          </p:nvPr>
        </p:nvSpPr>
        <p:spPr>
          <a:xfrm>
            <a:off x="1303800" y="598575"/>
            <a:ext cx="7030500" cy="885000"/>
          </a:xfrm>
          <a:prstGeom prst="rect">
            <a:avLst/>
          </a:prstGeom>
          <a:solidFill>
            <a:schemeClr val="accent1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500">
                <a:solidFill>
                  <a:schemeClr val="lt1"/>
                </a:solidFill>
              </a:rPr>
              <a:t>架構圖</a:t>
            </a:r>
            <a:endParaRPr sz="3500">
              <a:solidFill>
                <a:schemeClr val="lt1"/>
              </a:solidFill>
            </a:endParaRPr>
          </a:p>
        </p:txBody>
      </p:sp>
      <p:pic>
        <p:nvPicPr>
          <p:cNvPr id="321" name="Google Shape;32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025" y="1853825"/>
            <a:ext cx="8228725" cy="2608725"/>
          </a:xfrm>
          <a:prstGeom prst="rect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  <a:effectLst>
            <a:outerShdw blurRad="100013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0"/>
          <p:cNvSpPr txBox="1"/>
          <p:nvPr>
            <p:ph type="title"/>
          </p:nvPr>
        </p:nvSpPr>
        <p:spPr>
          <a:xfrm>
            <a:off x="1303800" y="660400"/>
            <a:ext cx="6844200" cy="8850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3500">
                <a:highlight>
                  <a:schemeClr val="accent4"/>
                </a:highlight>
              </a:rPr>
              <a:t>組員分工</a:t>
            </a:r>
            <a:endParaRPr sz="3500">
              <a:highlight>
                <a:schemeClr val="accent4"/>
              </a:highlight>
            </a:endParaRPr>
          </a:p>
        </p:txBody>
      </p:sp>
      <p:graphicFrame>
        <p:nvGraphicFramePr>
          <p:cNvPr id="327" name="Google Shape;327;p20"/>
          <p:cNvGraphicFramePr/>
          <p:nvPr/>
        </p:nvGraphicFramePr>
        <p:xfrm>
          <a:off x="1557550" y="1853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{70698688-155F-4A6C-93D4-EAA4DB8AB456}</a:tableStyleId>
              </a:tblPr>
              <a:tblGrid>
                <a:gridCol w="1226275"/>
                <a:gridCol w="1226275"/>
                <a:gridCol w="1226275"/>
                <a:gridCol w="1226275"/>
                <a:gridCol w="1226275"/>
              </a:tblGrid>
              <a:tr h="40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林栢暐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林宜臻</a:t>
                      </a:r>
                      <a:endParaRPr b="1"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張君瑗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/>
                        <a:t>陳思涵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Python ETL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MySQL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Fast API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AirFlow 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Tableau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簡報製作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V</a:t>
                      </a:r>
                      <a:endParaRPr/>
                    </a:p>
                  </a:txBody>
                  <a:tcPr marT="91425" marB="91425" marR="91425" marL="91425">
                    <a:lnL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accent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 txBox="1"/>
          <p:nvPr>
            <p:ph type="title"/>
          </p:nvPr>
        </p:nvSpPr>
        <p:spPr>
          <a:xfrm>
            <a:off x="1303800" y="598575"/>
            <a:ext cx="1787100" cy="9993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討論問題</a:t>
            </a:r>
            <a:endParaRPr/>
          </a:p>
        </p:txBody>
      </p:sp>
      <p:sp>
        <p:nvSpPr>
          <p:cNvPr id="333" name="Google Shape;333;p21"/>
          <p:cNvSpPr txBox="1"/>
          <p:nvPr>
            <p:ph idx="1" type="body"/>
          </p:nvPr>
        </p:nvSpPr>
        <p:spPr>
          <a:xfrm>
            <a:off x="983100" y="1730400"/>
            <a:ext cx="7351200" cy="309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儀表板最終呈現的提示：</a:t>
            </a:r>
            <a:r>
              <a:rPr lang="zh-TW" sz="1500"/>
              <a:t>道瓊\羅素2000(收盤價）)＆總經指數與選擇的股票折線圖、取前500家該期間之漲跌製作泡泡圖、cpi、gdp、通膨率、pmi、spy(大盤指數)、匯率一鍵換算功能✅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資料之期間：20年✅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股票範圍：美股✅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通知訊息內容：匯率最高最低點、跟多久之前的最低點相同(設定區間)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需要的資訊：股票代號(鉅亨)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>
                <a:solidFill>
                  <a:srgbClr val="CCCCCC"/>
                </a:solidFill>
              </a:rPr>
              <a:t>視覺化：Tableau的實際運用</a:t>
            </a:r>
            <a:endParaRPr sz="1500">
              <a:solidFill>
                <a:srgbClr val="CCCCCC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美股開關盤資料抓取時間：</a:t>
            </a:r>
            <a:r>
              <a:rPr lang="zh-TW" sz="1500"/>
              <a:t>前一日收盤價、前日匯率✅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zh-TW" sz="1500"/>
              <a:t>藉由歷史資料做出預測(之後會教)</a:t>
            </a:r>
            <a:endParaRPr sz="15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"/>
          <p:cNvSpPr txBox="1"/>
          <p:nvPr>
            <p:ph type="title"/>
          </p:nvPr>
        </p:nvSpPr>
        <p:spPr>
          <a:xfrm>
            <a:off x="1303800" y="598575"/>
            <a:ext cx="7030500" cy="648600"/>
          </a:xfrm>
          <a:prstGeom prst="rect">
            <a:avLst/>
          </a:prstGeom>
          <a:solidFill>
            <a:schemeClr val="accent4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900"/>
              <a:t>🕷️🐛-&gt;瑗:🐰、涵:🐶、暐:🐱、臻:🐟</a:t>
            </a:r>
            <a:r>
              <a:rPr lang="zh-TW"/>
              <a:t> </a:t>
            </a:r>
            <a:endParaRPr/>
          </a:p>
        </p:txBody>
      </p:sp>
      <p:sp>
        <p:nvSpPr>
          <p:cNvPr id="339" name="Google Shape;339;p22"/>
          <p:cNvSpPr txBox="1"/>
          <p:nvPr>
            <p:ph idx="1" type="body"/>
          </p:nvPr>
        </p:nvSpPr>
        <p:spPr>
          <a:xfrm>
            <a:off x="1156800" y="1451575"/>
            <a:ext cx="7177500" cy="33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zh-TW" sz="1700"/>
              <a:t>道瓊(2005-2025年每日收盤價）🐰v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zh-TW" sz="1700"/>
              <a:t>羅素2000(2005-2025年每日收盤價）🐰v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zh-TW" sz="1700"/>
              <a:t>美股們的本益比(每個季度)🐱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✬"/>
            </a:pPr>
            <a:r>
              <a:rPr lang="zh-TW" sz="1700"/>
              <a:t>美股們(2005-2025年)-&gt;代號、公司全名、交易日期、開盤價、最高價、最低價、收盤價(美金)、成交量(?)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✬"/>
            </a:pPr>
            <a:r>
              <a:rPr lang="zh-TW" sz="1700"/>
              <a:t>定義歷史報酬率(30\90\180\300天)-&gt;以日期為基準，若遇未開市則取前一日價格計算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zh-TW" sz="1700"/>
              <a:t>美元換台幣匯率(2005-2025年)-&gt;每日截止匯率、美換台前一日截止價🐶v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zh-TW" sz="1700"/>
              <a:t>換算功能製作（mysql）🐟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AutoNum type="arabicPeriod"/>
            </a:pPr>
            <a:r>
              <a:rPr lang="zh-TW" sz="1700"/>
              <a:t>CPI (消費者物價指數)、GDP、通膨率、PMI、SPY(S&amp;P500大盤指數)-&gt;抓實際國內、每個月都抓🐰🐱🐶</a:t>
            </a:r>
            <a:endParaRPr sz="17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800" y="1653350"/>
            <a:ext cx="6752299" cy="324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